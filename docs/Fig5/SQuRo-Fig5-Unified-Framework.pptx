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38a03d7bf4d4a" /><Relationship Type="http://schemas.openxmlformats.org/officeDocument/2006/relationships/extended-properties" Target="/docProps/app.xml" Id="R750b6ab764a84247" /><Relationship Type="http://schemas.openxmlformats.org/officeDocument/2006/relationships/officeDocument" Target="/ppt/presentation.xml" Id="Rb457067fcccd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d83c5ba2a4376"/>
  </p:sldMasterIdLst>
  <p:notesMasterIdLst>
    <p:notesMasterId xmlns:r="http://schemas.openxmlformats.org/officeDocument/2006/relationships" r:id="R22a913c6085b4018"/>
  </p:notesMasterIdLst>
  <p:sldIdLst>
    <p:sldId xmlns:r="http://schemas.openxmlformats.org/officeDocument/2006/relationships" id="256" r:id="R080492d64cf243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a16aeeef9941a4" /><Relationship Type="http://schemas.openxmlformats.org/officeDocument/2006/relationships/slideMaster" Target="/ppt/slideMasters/slideMaster1.xml" Id="R882d83c5ba2a4376" /><Relationship Type="http://schemas.openxmlformats.org/officeDocument/2006/relationships/notesMaster" Target="/ppt/notesMasters/notesMaster1.xml" Id="R22a913c6085b4018" /><Relationship Type="http://schemas.openxmlformats.org/officeDocument/2006/relationships/presProps" Target="/ppt/presProps.xml" Id="Rb4f1e823b8634925" /><Relationship Type="http://schemas.openxmlformats.org/officeDocument/2006/relationships/viewProps" Target="/ppt/viewProps.xml" Id="R058e60af8d744304" /><Relationship Type="http://schemas.openxmlformats.org/officeDocument/2006/relationships/tableStyles" Target="/ppt/tableStyles.xml" Id="R44022216a1374c91" /><Relationship Type="http://schemas.openxmlformats.org/officeDocument/2006/relationships/slide" Target="/ppt/slides/slide1.xml" Id="R080492d64cf2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4c9c3f5a544c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9f7ccee2b14104" /><Relationship Type="http://schemas.openxmlformats.org/officeDocument/2006/relationships/notesMaster" Target="/ppt/notesMasters/notesMaster1.xml" Id="R87842e1a4daf4e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4a049e392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9e1da9f8e4d16" /><Relationship Type="http://schemas.openxmlformats.org/officeDocument/2006/relationships/slideLayout" Target="/ppt/slideLayouts/slideLayout1.xml" Id="Rc16c3cb9d5b042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6c3cb9d5b042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d4f411ae14c54" /><Relationship Type="http://schemas.openxmlformats.org/officeDocument/2006/relationships/notesSlide" Target="/ppt/notesSlides/notesSlide1.xml" Id="R7d64daea614f4b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D0570-6C37-4CFF-87C5-D29ACEEA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1173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Fig. 5 ｜ 统一控制框架：走廊一致性约束下的两阶段课程强化学习与实物化部署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31CB3-55BF-4CDD-8579-C4B8BCA6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57200"/>
            <a:ext cx="1173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低维脊柱运动基元 → 参考生成 → 仿真课程学习（Slalom 绕杆 / Tunnel 钻洞）→ 运动模式提取 → F104 实物开环回放</a:t>
            </a:r>
          </a:p>
        </p:txBody>
      </p:sp>
      <p:sp>
        <p:nvSpPr>
          <p:cNvPr id="3" name="row1-bg">
            <a:extLst xmlns:a="http://schemas.openxmlformats.org/drawingml/2006/main">
              <a:ext uri="{FF2B5EF4-FFF2-40B4-BE49-F238E27FC236}">
                <a16:creationId xmlns:a16="http://schemas.microsoft.com/office/drawing/2014/main" id="{E05937B9-1E75-49C9-B111-CFFCC1E1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"/>
            <a:ext cx="118872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2F8F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sp>
        <p:nvSpPr>
          <p:cNvPr id="4" name="row1-title">
            <a:extLst xmlns:a="http://schemas.openxmlformats.org/drawingml/2006/main">
              <a:ext uri="{FF2B5EF4-FFF2-40B4-BE49-F238E27FC236}">
                <a16:creationId xmlns:a16="http://schemas.microsoft.com/office/drawing/2014/main" id="{3F0924DD-8E90-411E-BD27-1084DCD6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800100"/>
            <a:ext cx="1188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排 · 生物启发：大鼠行为聚类 → 低维脊柱运动基元（俯仰 / 侧摆 / 扭转）→ 基元驱动的参考生成</a:t>
            </a:r>
          </a:p>
        </p:txBody>
      </p:sp>
      <p:sp>
        <p:nvSpPr>
          <p:cNvPr id="5" name="m11">
            <a:extLst xmlns:a="http://schemas.openxmlformats.org/drawingml/2006/main">
              <a:ext uri="{FF2B5EF4-FFF2-40B4-BE49-F238E27FC236}">
                <a16:creationId xmlns:a16="http://schemas.microsoft.com/office/drawing/2014/main" id="{C3E74F8B-8D9E-436E-A1A7-787C1D28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43000"/>
            <a:ext cx="2286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6" name="m11-t">
            <a:extLst xmlns:a="http://schemas.openxmlformats.org/drawingml/2006/main">
              <a:ext uri="{FF2B5EF4-FFF2-40B4-BE49-F238E27FC236}">
                <a16:creationId xmlns:a16="http://schemas.microsoft.com/office/drawing/2014/main" id="{F5163015-09F2-4191-9D75-12729EF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001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① 运动捕捉 · 聚类分析</a:t>
            </a:r>
          </a:p>
        </p:txBody>
      </p:sp>
      <p:sp>
        <p:nvSpPr>
          <p:cNvPr id="7" name="m11-b">
            <a:extLst xmlns:a="http://schemas.openxmlformats.org/drawingml/2006/main">
              <a:ext uri="{FF2B5EF4-FFF2-40B4-BE49-F238E27FC236}">
                <a16:creationId xmlns:a16="http://schemas.microsoft.com/office/drawing/2014/main" id="{8B41CCCD-1944-4301-91D3-A818A0C6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47800"/>
            <a:ext cx="1104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开源大鼠运动数据集</a:t>
            </a:r>
          </a:p>
          <a:p xmlns:a="http://schemas.openxmlformats.org/drawingml/2006/main">
            <a:pPr algn="l">
              <a:def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三维运动捕捉 → 聚类</a:t>
            </a:r>
          </a:p>
          <a:p xmlns:a="http://schemas.openxmlformats.org/drawingml/2006/main">
            <a:pPr algn="l">
              <a:def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(GMM / 降维)</a:t>
            </a:r>
          </a:p>
        </p:txBody>
      </p:sp>
      <p:sp>
        <p:nvSpPr>
          <p:cNvPr id="8" name="prim-0">
            <a:extLst xmlns:a="http://schemas.openxmlformats.org/drawingml/2006/main">
              <a:ext uri="{FF2B5EF4-FFF2-40B4-BE49-F238E27FC236}">
                <a16:creationId xmlns:a16="http://schemas.microsoft.com/office/drawing/2014/main" id="{55B93076-60AC-40A0-99CD-9939986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66850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A5D6A7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9" name="prim-t-0">
            <a:extLst xmlns:a="http://schemas.openxmlformats.org/drawingml/2006/main">
              <a:ext uri="{FF2B5EF4-FFF2-40B4-BE49-F238E27FC236}">
                <a16:creationId xmlns:a16="http://schemas.microsoft.com/office/drawing/2014/main" id="{C80A0EAA-48C2-4803-B106-2C29029A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85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俯仰</a:t>
            </a:r>
          </a:p>
          <a:p xmlns:a="http://schemas.openxmlformats.org/drawingml/2006/main">
            <a:pPr algn="ctr">
              <a:def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Pitch</a:t>
            </a:r>
          </a:p>
        </p:txBody>
      </p:sp>
      <p:sp>
        <p:nvSpPr>
          <p:cNvPr id="10" name="prim-1">
            <a:extLst xmlns:a="http://schemas.openxmlformats.org/drawingml/2006/main">
              <a:ext uri="{FF2B5EF4-FFF2-40B4-BE49-F238E27FC236}">
                <a16:creationId xmlns:a16="http://schemas.microsoft.com/office/drawing/2014/main" id="{3FE5245D-5747-4EEA-958F-899CE053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28800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1" name="prim-t-1">
            <a:extLst xmlns:a="http://schemas.openxmlformats.org/drawingml/2006/main">
              <a:ext uri="{FF2B5EF4-FFF2-40B4-BE49-F238E27FC236}">
                <a16:creationId xmlns:a16="http://schemas.microsoft.com/office/drawing/2014/main" id="{95318F95-51E6-4F20-AB8B-7513953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侧摆</a:t>
            </a:r>
          </a:p>
          <a:p xmlns:a="http://schemas.openxmlformats.org/drawingml/2006/main">
            <a:pPr algn="ctr">
              <a:def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Yaw</a:t>
            </a:r>
          </a:p>
        </p:txBody>
      </p:sp>
      <p:sp>
        <p:nvSpPr>
          <p:cNvPr id="12" name="prim-2">
            <a:extLst xmlns:a="http://schemas.openxmlformats.org/drawingml/2006/main">
              <a:ext uri="{FF2B5EF4-FFF2-40B4-BE49-F238E27FC236}">
                <a16:creationId xmlns:a16="http://schemas.microsoft.com/office/drawing/2014/main" id="{5BD29A99-FA9D-429D-BA0D-4702E123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90750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BB6A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3" name="prim-t-2">
            <a:extLst xmlns:a="http://schemas.openxmlformats.org/drawingml/2006/main">
              <a:ext uri="{FF2B5EF4-FFF2-40B4-BE49-F238E27FC236}">
                <a16:creationId xmlns:a16="http://schemas.microsoft.com/office/drawing/2014/main" id="{58BD9CCD-B0C7-4A1E-96F4-BE3024AB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扭转</a:t>
            </a:r>
          </a:p>
          <a:p xmlns:a="http://schemas.openxmlformats.org/drawingml/2006/main">
            <a:pPr algn="ctr">
              <a:def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Torsion</a:t>
            </a:r>
          </a:p>
        </p:txBody>
      </p:sp>
      <p:sp>
        <p:nvSpPr>
          <p:cNvPr id="14" name="m12">
            <a:extLst xmlns:a="http://schemas.openxmlformats.org/drawingml/2006/main">
              <a:ext uri="{FF2B5EF4-FFF2-40B4-BE49-F238E27FC236}">
                <a16:creationId xmlns:a16="http://schemas.microsoft.com/office/drawing/2014/main" id="{94FFD90F-0944-41AE-9BB9-ECA94905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1430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5" name="m12-t">
            <a:extLst xmlns:a="http://schemas.openxmlformats.org/drawingml/2006/main">
              <a:ext uri="{FF2B5EF4-FFF2-40B4-BE49-F238E27FC236}">
                <a16:creationId xmlns:a16="http://schemas.microsoft.com/office/drawing/2014/main" id="{70F3A7DB-4ED5-483D-863F-6F179A24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001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② 基元驱动的参考生成器</a:t>
            </a:r>
          </a:p>
        </p:txBody>
      </p:sp>
      <p:sp>
        <p:nvSpPr>
          <p:cNvPr id="16" name="m12-in">
            <a:extLst xmlns:a="http://schemas.openxmlformats.org/drawingml/2006/main">
              <a:ext uri="{FF2B5EF4-FFF2-40B4-BE49-F238E27FC236}">
                <a16:creationId xmlns:a16="http://schemas.microsoft.com/office/drawing/2014/main" id="{8677FCBB-5AD7-4523-B4B9-E927C1D5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4478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输入：κ（曲率）、vel、freq、height</a:t>
            </a:r>
          </a:p>
        </p:txBody>
      </p:sp>
      <p:sp>
        <p:nvSpPr>
          <p:cNvPr id="17" name="m12-sp">
            <a:extLst xmlns:a="http://schemas.openxmlformats.org/drawingml/2006/main">
              <a:ext uri="{FF2B5EF4-FFF2-40B4-BE49-F238E27FC236}">
                <a16:creationId xmlns:a16="http://schemas.microsoft.com/office/drawing/2014/main" id="{43CC60FA-5508-4709-8495-1E0F808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57350"/>
            <a:ext cx="270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脊柱映射（基元组合）</a:t>
            </a:r>
          </a:p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f_spine1 = −0.65·κ/κmax</a:t>
            </a:r>
          </a:p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f_body   = −0.90·κ/κmax</a:t>
            </a:r>
          </a:p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  h_body   = −0.70·κ/κmax</a:t>
            </a:r>
          </a:p>
        </p:txBody>
      </p:sp>
      <p:sp>
        <p:nvSpPr>
          <p:cNvPr id="18" name="m12-leg">
            <a:extLst xmlns:a="http://schemas.openxmlformats.org/drawingml/2006/main">
              <a:ext uri="{FF2B5EF4-FFF2-40B4-BE49-F238E27FC236}">
                <a16:creationId xmlns:a16="http://schemas.microsoft.com/office/drawing/2014/main" id="{3DBB8CB8-E247-44BC-A71C-97C05F24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2705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腿差速：内侧步幅 ×(1−|κ|/κmax)</a:t>
            </a:r>
          </a:p>
        </p:txBody>
      </p:sp>
      <p:sp>
        <p:nvSpPr>
          <p:cNvPr id="19" name="m13">
            <a:extLst xmlns:a="http://schemas.openxmlformats.org/drawingml/2006/main">
              <a:ext uri="{FF2B5EF4-FFF2-40B4-BE49-F238E27FC236}">
                <a16:creationId xmlns:a16="http://schemas.microsoft.com/office/drawing/2014/main" id="{DA05B31D-CD97-4575-8EEA-A64A4F2D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143000"/>
            <a:ext cx="3143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0" name="m13-t">
            <a:extLst xmlns:a="http://schemas.openxmlformats.org/drawingml/2006/main">
              <a:ext uri="{FF2B5EF4-FFF2-40B4-BE49-F238E27FC236}">
                <a16:creationId xmlns:a16="http://schemas.microsoft.com/office/drawing/2014/main" id="{2634870E-106B-42E6-9479-231123BC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001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③ 关节参考轨迹（14 关节）</a:t>
            </a:r>
          </a:p>
        </p:txBody>
      </p:sp>
      <p:sp>
        <p:nvSpPr>
          <p:cNvPr id="21" name="wave-0">
            <a:extLst xmlns:a="http://schemas.openxmlformats.org/drawingml/2006/main">
              <a:ext uri="{FF2B5EF4-FFF2-40B4-BE49-F238E27FC236}">
                <a16:creationId xmlns:a16="http://schemas.microsoft.com/office/drawing/2014/main" id="{FBA0E26C-99F9-4BC9-A83A-6091D9D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24000"/>
            <a:ext cx="1619250" cy="123825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2" name="wave-t-0">
            <a:extLst xmlns:a="http://schemas.openxmlformats.org/drawingml/2006/main">
              <a:ext uri="{FF2B5EF4-FFF2-40B4-BE49-F238E27FC236}">
                <a16:creationId xmlns:a16="http://schemas.microsoft.com/office/drawing/2014/main" id="{DFAD0321-A374-40D8-B601-7E8AFBFA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95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脊柱 侧摆/扭转</a:t>
            </a:r>
          </a:p>
        </p:txBody>
      </p:sp>
      <p:sp>
        <p:nvSpPr>
          <p:cNvPr id="23" name="wave-1">
            <a:extLst xmlns:a="http://schemas.openxmlformats.org/drawingml/2006/main">
              <a:ext uri="{FF2B5EF4-FFF2-40B4-BE49-F238E27FC236}">
                <a16:creationId xmlns:a16="http://schemas.microsoft.com/office/drawing/2014/main" id="{A8CEED5B-5DAE-4BF0-A348-BAF733A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1619250" cy="123825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24" name="wave-t-1">
            <a:extLst xmlns:a="http://schemas.openxmlformats.org/drawingml/2006/main">
              <a:ext uri="{FF2B5EF4-FFF2-40B4-BE49-F238E27FC236}">
                <a16:creationId xmlns:a16="http://schemas.microsoft.com/office/drawing/2014/main" id="{0F93422E-1469-4DCC-A40B-549E704F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383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前腿 FL/FR</a:t>
            </a:r>
          </a:p>
        </p:txBody>
      </p:sp>
      <p:sp>
        <p:nvSpPr>
          <p:cNvPr id="25" name="wave-2">
            <a:extLst xmlns:a="http://schemas.openxmlformats.org/drawingml/2006/main">
              <a:ext uri="{FF2B5EF4-FFF2-40B4-BE49-F238E27FC236}">
                <a16:creationId xmlns:a16="http://schemas.microsoft.com/office/drawing/2014/main" id="{98C1E1DD-EA6D-44A1-BE06-BC296A00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09800"/>
            <a:ext cx="1619250" cy="123825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E65100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26" name="wave-t-2">
            <a:extLst xmlns:a="http://schemas.openxmlformats.org/drawingml/2006/main">
              <a:ext uri="{FF2B5EF4-FFF2-40B4-BE49-F238E27FC236}">
                <a16:creationId xmlns:a16="http://schemas.microsoft.com/office/drawing/2014/main" id="{45D43075-2C7D-4669-ADFC-B119FC04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812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后腿 HL/HR</a:t>
            </a:r>
          </a:p>
        </p:txBody>
      </p:sp>
      <p:sp>
        <p:nvSpPr>
          <p:cNvPr id="27" name="m13-foot">
            <a:extLst xmlns:a="http://schemas.openxmlformats.org/drawingml/2006/main">
              <a:ext uri="{FF2B5EF4-FFF2-40B4-BE49-F238E27FC236}">
                <a16:creationId xmlns:a16="http://schemas.microsoft.com/office/drawing/2014/main" id="{ACC8F8A9-5BA1-4005-BFE2-B3F1E400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相位 = (phase + freq·dt) mod 1</a:t>
            </a:r>
          </a:p>
        </p:txBody>
      </p:sp>
      <p:sp>
        <p:nvSpPr>
          <p:cNvPr id="28" name="m14">
            <a:extLst xmlns:a="http://schemas.openxmlformats.org/drawingml/2006/main">
              <a:ext uri="{FF2B5EF4-FFF2-40B4-BE49-F238E27FC236}">
                <a16:creationId xmlns:a16="http://schemas.microsoft.com/office/drawing/2014/main" id="{539C1F86-6235-49D5-B6AC-2DB7FEAA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143000"/>
            <a:ext cx="2400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9" name="m14-t">
            <a:extLst xmlns:a="http://schemas.openxmlformats.org/drawingml/2006/main">
              <a:ext uri="{FF2B5EF4-FFF2-40B4-BE49-F238E27FC236}">
                <a16:creationId xmlns:a16="http://schemas.microsoft.com/office/drawing/2014/main" id="{B258AD2C-EF04-4CBD-924A-C215BD8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0015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B5E20"/>
                </a:solidFill>
                <a:latin typeface="Microsoft YaHei"/>
                <a:ea typeface="Microsoft YaHei"/>
                <a:cs typeface="Microsoft YaHei"/>
              </a:rPr>
              <a:t>④ 行为-基元组合矩阵</a:t>
            </a:r>
          </a:p>
        </p:txBody>
      </p:sp>
      <p:sp>
        <p:nvSpPr>
          <p:cNvPr id="30" name="m14-c-0">
            <a:extLst xmlns:a="http://schemas.openxmlformats.org/drawingml/2006/main">
              <a:ext uri="{FF2B5EF4-FFF2-40B4-BE49-F238E27FC236}">
                <a16:creationId xmlns:a16="http://schemas.microsoft.com/office/drawing/2014/main" id="{AE5AAF3A-0D8D-4204-8A1F-4836454C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28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俯仰</a:t>
            </a:r>
          </a:p>
        </p:txBody>
      </p:sp>
      <p:sp>
        <p:nvSpPr>
          <p:cNvPr id="31" name="m14-c-1">
            <a:extLst xmlns:a="http://schemas.openxmlformats.org/drawingml/2006/main">
              <a:ext uri="{FF2B5EF4-FFF2-40B4-BE49-F238E27FC236}">
                <a16:creationId xmlns:a16="http://schemas.microsoft.com/office/drawing/2014/main" id="{4CA4B1AA-4213-476F-AD73-11B681A6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428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侧摆</a:t>
            </a:r>
          </a:p>
        </p:txBody>
      </p:sp>
      <p:sp>
        <p:nvSpPr>
          <p:cNvPr id="32" name="m14-c-2">
            <a:extLst xmlns:a="http://schemas.openxmlformats.org/drawingml/2006/main">
              <a:ext uri="{FF2B5EF4-FFF2-40B4-BE49-F238E27FC236}">
                <a16:creationId xmlns:a16="http://schemas.microsoft.com/office/drawing/2014/main" id="{68DB33F2-0994-4A3B-842A-883BC6AD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428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扭转</a:t>
            </a:r>
          </a:p>
        </p:txBody>
      </p:sp>
      <p:sp>
        <p:nvSpPr>
          <p:cNvPr id="33" name="m14-r-0">
            <a:extLst xmlns:a="http://schemas.openxmlformats.org/drawingml/2006/main">
              <a:ext uri="{FF2B5EF4-FFF2-40B4-BE49-F238E27FC236}">
                <a16:creationId xmlns:a16="http://schemas.microsoft.com/office/drawing/2014/main" id="{C2A32204-3DCC-4F97-A7C2-B87BAD31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5811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前进</a:t>
            </a:r>
          </a:p>
        </p:txBody>
      </p:sp>
      <p:sp>
        <p:nvSpPr>
          <p:cNvPr id="34" name="m14-cell-0-0">
            <a:extLst xmlns:a="http://schemas.openxmlformats.org/drawingml/2006/main">
              <a:ext uri="{FF2B5EF4-FFF2-40B4-BE49-F238E27FC236}">
                <a16:creationId xmlns:a16="http://schemas.microsoft.com/office/drawing/2014/main" id="{287AB6D9-AD96-4F3E-90C6-516B21DF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81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5" name="m14-cell-0-1">
            <a:extLst xmlns:a="http://schemas.openxmlformats.org/drawingml/2006/main">
              <a:ext uri="{FF2B5EF4-FFF2-40B4-BE49-F238E27FC236}">
                <a16:creationId xmlns:a16="http://schemas.microsoft.com/office/drawing/2014/main" id="{162DF6D6-28F0-4C6D-B006-CC7D3EB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81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6" name="m14-cell-0-2">
            <a:extLst xmlns:a="http://schemas.openxmlformats.org/drawingml/2006/main">
              <a:ext uri="{FF2B5EF4-FFF2-40B4-BE49-F238E27FC236}">
                <a16:creationId xmlns:a16="http://schemas.microsoft.com/office/drawing/2014/main" id="{F1B7C8C7-9719-4D83-8DAA-B25CE572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5811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7" name="m14-r-1">
            <a:extLst xmlns:a="http://schemas.openxmlformats.org/drawingml/2006/main">
              <a:ext uri="{FF2B5EF4-FFF2-40B4-BE49-F238E27FC236}">
                <a16:creationId xmlns:a16="http://schemas.microsoft.com/office/drawing/2014/main" id="{553586EE-256D-4879-9072-6DEF52F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转向</a:t>
            </a:r>
          </a:p>
        </p:txBody>
      </p:sp>
      <p:sp>
        <p:nvSpPr>
          <p:cNvPr id="38" name="m14-cell-1-0">
            <a:extLst xmlns:a="http://schemas.openxmlformats.org/drawingml/2006/main">
              <a:ext uri="{FF2B5EF4-FFF2-40B4-BE49-F238E27FC236}">
                <a16:creationId xmlns:a16="http://schemas.microsoft.com/office/drawing/2014/main" id="{53599872-0149-4899-937B-D7D49B6A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90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9525">
            <a:solidFill>
              <a:srgbClr val="C8E6C9"/>
            </a:solidFill>
            <a:prstDash val="solid"/>
          </a:ln>
        </p:spPr>
      </p:sp>
      <p:sp>
        <p:nvSpPr>
          <p:cNvPr id="39" name="m14-cell-1-1">
            <a:extLst xmlns:a="http://schemas.openxmlformats.org/drawingml/2006/main">
              <a:ext uri="{FF2B5EF4-FFF2-40B4-BE49-F238E27FC236}">
                <a16:creationId xmlns:a16="http://schemas.microsoft.com/office/drawing/2014/main" id="{C261FD8A-DBB0-4AD9-A403-3FA151F6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0" name="m14-cell-1-2">
            <a:extLst xmlns:a="http://schemas.openxmlformats.org/drawingml/2006/main">
              <a:ext uri="{FF2B5EF4-FFF2-40B4-BE49-F238E27FC236}">
                <a16:creationId xmlns:a16="http://schemas.microsoft.com/office/drawing/2014/main" id="{EB273AF4-63BE-4381-BCA1-CFD9710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907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1" name="m14-r-2">
            <a:extLst xmlns:a="http://schemas.openxmlformats.org/drawingml/2006/main">
              <a:ext uri="{FF2B5EF4-FFF2-40B4-BE49-F238E27FC236}">
                <a16:creationId xmlns:a16="http://schemas.microsoft.com/office/drawing/2014/main" id="{EB3928E4-F154-4CEA-A914-A84CCA3C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攀爬</a:t>
            </a:r>
          </a:p>
        </p:txBody>
      </p:sp>
      <p:sp>
        <p:nvSpPr>
          <p:cNvPr id="42" name="m14-cell-2-0">
            <a:extLst xmlns:a="http://schemas.openxmlformats.org/drawingml/2006/main">
              <a:ext uri="{FF2B5EF4-FFF2-40B4-BE49-F238E27FC236}">
                <a16:creationId xmlns:a16="http://schemas.microsoft.com/office/drawing/2014/main" id="{7758B945-0435-45B7-83A0-7813CBA7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02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3" name="m14-cell-2-1">
            <a:extLst xmlns:a="http://schemas.openxmlformats.org/drawingml/2006/main">
              <a:ext uri="{FF2B5EF4-FFF2-40B4-BE49-F238E27FC236}">
                <a16:creationId xmlns:a16="http://schemas.microsoft.com/office/drawing/2014/main" id="{4FFE9789-A62E-4FB8-9B9C-2D72375D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002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9525">
            <a:solidFill>
              <a:srgbClr val="C8E6C9"/>
            </a:solidFill>
            <a:prstDash val="solid"/>
          </a:ln>
        </p:spPr>
      </p:sp>
      <p:sp>
        <p:nvSpPr>
          <p:cNvPr id="44" name="m14-cell-2-2">
            <a:extLst xmlns:a="http://schemas.openxmlformats.org/drawingml/2006/main">
              <a:ext uri="{FF2B5EF4-FFF2-40B4-BE49-F238E27FC236}">
                <a16:creationId xmlns:a16="http://schemas.microsoft.com/office/drawing/2014/main" id="{B1A8F947-2A03-42A4-B236-2392757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002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5" name="m14-r-3">
            <a:extLst xmlns:a="http://schemas.openxmlformats.org/drawingml/2006/main">
              <a:ext uri="{FF2B5EF4-FFF2-40B4-BE49-F238E27FC236}">
                <a16:creationId xmlns:a16="http://schemas.microsoft.com/office/drawing/2014/main" id="{6C0AEA0E-2964-4303-93EA-0ABAB314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98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46" name="m14-cell-3-0">
            <a:extLst xmlns:a="http://schemas.openxmlformats.org/drawingml/2006/main">
              <a:ext uri="{FF2B5EF4-FFF2-40B4-BE49-F238E27FC236}">
                <a16:creationId xmlns:a16="http://schemas.microsoft.com/office/drawing/2014/main" id="{CB681B1E-2952-4C11-AD32-F80FE605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098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7" name="m14-cell-3-1">
            <a:extLst xmlns:a="http://schemas.openxmlformats.org/drawingml/2006/main">
              <a:ext uri="{FF2B5EF4-FFF2-40B4-BE49-F238E27FC236}">
                <a16:creationId xmlns:a16="http://schemas.microsoft.com/office/drawing/2014/main" id="{468B500E-6900-449A-8ED5-483CB39C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098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C784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8" name="m14-cell-3-2">
            <a:extLst xmlns:a="http://schemas.openxmlformats.org/drawingml/2006/main">
              <a:ext uri="{FF2B5EF4-FFF2-40B4-BE49-F238E27FC236}">
                <a16:creationId xmlns:a16="http://schemas.microsoft.com/office/drawing/2014/main" id="{FE0A3B05-F478-4DBC-A65F-645DD092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098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  <a:ln xmlns:a="http://schemas.openxmlformats.org/drawingml/2006/main" w="9525">
            <a:solidFill>
              <a:srgbClr val="C8E6C9"/>
            </a:solidFill>
            <a:prstDash val="solid"/>
          </a:ln>
        </p:spPr>
      </p:sp>
      <p:sp>
        <p:nvSpPr>
          <p:cNvPr id="49" name="m14-note">
            <a:extLst xmlns:a="http://schemas.openxmlformats.org/drawingml/2006/main">
              <a:ext uri="{FF2B5EF4-FFF2-40B4-BE49-F238E27FC236}">
                <a16:creationId xmlns:a16="http://schemas.microsoft.com/office/drawing/2014/main" id="{29DA3155-B240-4E42-A867-CDF78D5D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功能展示（开环/预设，非 RL）</a:t>
            </a:r>
          </a:p>
        </p:txBody>
      </p:sp>
      <p:sp>
        <p:nvSpPr>
          <p:cNvPr id="50" name="arr1-2">
            <a:extLst xmlns:a="http://schemas.openxmlformats.org/drawingml/2006/main">
              <a:ext uri="{FF2B5EF4-FFF2-40B4-BE49-F238E27FC236}">
                <a16:creationId xmlns:a16="http://schemas.microsoft.com/office/drawing/2014/main" id="{1CF2DE34-9FA9-45C0-BE9F-B8BB3EB8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097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arr2-3">
            <a:extLst xmlns:a="http://schemas.openxmlformats.org/drawingml/2006/main">
              <a:ext uri="{FF2B5EF4-FFF2-40B4-BE49-F238E27FC236}">
                <a16:creationId xmlns:a16="http://schemas.microsoft.com/office/drawing/2014/main" id="{C7AEDD70-843E-40DB-A58D-400B6B77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097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arr3-4">
            <a:extLst xmlns:a="http://schemas.openxmlformats.org/drawingml/2006/main">
              <a:ext uri="{FF2B5EF4-FFF2-40B4-BE49-F238E27FC236}">
                <a16:creationId xmlns:a16="http://schemas.microsoft.com/office/drawing/2014/main" id="{0DC091EF-CBA8-49B7-8EBF-64986A37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ow2-bg">
            <a:extLst xmlns:a="http://schemas.openxmlformats.org/drawingml/2006/main">
              <a:ext uri="{FF2B5EF4-FFF2-40B4-BE49-F238E27FC236}">
                <a16:creationId xmlns:a16="http://schemas.microsoft.com/office/drawing/2014/main" id="{AE1741B9-A78F-4815-944E-3C2308B9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914650"/>
            <a:ext cx="118872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14288">
            <a:solidFill>
              <a:srgbClr val="1565C0"/>
            </a:solidFill>
            <a:prstDash val="solid"/>
          </a:ln>
        </p:spPr>
      </p:sp>
      <p:sp>
        <p:nvSpPr>
          <p:cNvPr id="54" name="row2-title">
            <a:extLst xmlns:a="http://schemas.openxmlformats.org/drawingml/2006/main">
              <a:ext uri="{FF2B5EF4-FFF2-40B4-BE49-F238E27FC236}">
                <a16:creationId xmlns:a16="http://schemas.microsoft.com/office/drawing/2014/main" id="{EB08D975-1B94-444B-82E9-02A40332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914650"/>
            <a:ext cx="1188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排 · RL 实现：统一走廊约束（同一包络模型 · XoY 绕杆 / YoZ 钻洞）→ 走廊一致性奖励 → 两阶段课程 → Actor-Critic</a:t>
            </a:r>
          </a:p>
        </p:txBody>
      </p:sp>
      <p:sp>
        <p:nvSpPr>
          <p:cNvPr id="55" name="m21">
            <a:extLst xmlns:a="http://schemas.openxmlformats.org/drawingml/2006/main">
              <a:ext uri="{FF2B5EF4-FFF2-40B4-BE49-F238E27FC236}">
                <a16:creationId xmlns:a16="http://schemas.microsoft.com/office/drawing/2014/main" id="{FC52AAE8-FAB4-49C0-ABC7-FE84DC6D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7550"/>
            <a:ext cx="381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56" name="m21-t">
            <a:extLst xmlns:a="http://schemas.openxmlformats.org/drawingml/2006/main">
              <a:ext uri="{FF2B5EF4-FFF2-40B4-BE49-F238E27FC236}">
                <a16:creationId xmlns:a16="http://schemas.microsoft.com/office/drawing/2014/main" id="{5A4DAFC9-88AB-4A1C-BFA7-CC02F8F2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14700"/>
            <a:ext cx="3810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① 统一走廊约束 —— 一个包络模型 · 两个法平面</a:t>
            </a:r>
          </a:p>
        </p:txBody>
      </p:sp>
      <p:sp>
        <p:nvSpPr>
          <p:cNvPr id="57" name="slalom-box">
            <a:extLst xmlns:a="http://schemas.openxmlformats.org/drawingml/2006/main">
              <a:ext uri="{FF2B5EF4-FFF2-40B4-BE49-F238E27FC236}">
                <a16:creationId xmlns:a16="http://schemas.microsoft.com/office/drawing/2014/main" id="{3302BB6F-42AA-4B4B-8519-15F8EF42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62350"/>
            <a:ext cx="1771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58" name="slalom-title">
            <a:extLst xmlns:a="http://schemas.openxmlformats.org/drawingml/2006/main">
              <a:ext uri="{FF2B5EF4-FFF2-40B4-BE49-F238E27FC236}">
                <a16:creationId xmlns:a16="http://schemas.microsoft.com/office/drawing/2014/main" id="{A30A8F21-52DE-44DA-B932-7E85D065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004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Slalom 绕杆（XoY）</a:t>
            </a:r>
          </a:p>
        </p:txBody>
      </p:sp>
      <p:sp>
        <p:nvSpPr>
          <p:cNvPr id="59" name="pole-0">
            <a:extLst xmlns:a="http://schemas.openxmlformats.org/drawingml/2006/main">
              <a:ext uri="{FF2B5EF4-FFF2-40B4-BE49-F238E27FC236}">
                <a16:creationId xmlns:a16="http://schemas.microsoft.com/office/drawing/2014/main" id="{B7E671F9-CEE1-4272-8329-F2DEBF75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B8860B"/>
            </a:solidFill>
            <a:prstDash val="solid"/>
          </a:ln>
        </p:spPr>
      </p:sp>
      <p:sp>
        <p:nvSpPr>
          <p:cNvPr id="60" name="pole-1">
            <a:extLst xmlns:a="http://schemas.openxmlformats.org/drawingml/2006/main">
              <a:ext uri="{FF2B5EF4-FFF2-40B4-BE49-F238E27FC236}">
                <a16:creationId xmlns:a16="http://schemas.microsoft.com/office/drawing/2014/main" id="{9B16641C-1F14-42B1-904E-3A4C77B0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B8860B"/>
            </a:solidFill>
            <a:prstDash val="solid"/>
          </a:ln>
        </p:spPr>
      </p:sp>
      <p:sp>
        <p:nvSpPr>
          <p:cNvPr id="61" name="pole-2">
            <a:extLst xmlns:a="http://schemas.openxmlformats.org/drawingml/2006/main">
              <a:ext uri="{FF2B5EF4-FFF2-40B4-BE49-F238E27FC236}">
                <a16:creationId xmlns:a16="http://schemas.microsoft.com/office/drawing/2014/main" id="{901771FD-F049-48EE-A4C7-8621CCBB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B8860B"/>
            </a:solidFill>
            <a:prstDash val="solid"/>
          </a:ln>
        </p:spPr>
      </p:sp>
      <p:sp>
        <p:nvSpPr>
          <p:cNvPr id="62" name="rob-f">
            <a:extLst xmlns:a="http://schemas.openxmlformats.org/drawingml/2006/main">
              <a:ext uri="{FF2B5EF4-FFF2-40B4-BE49-F238E27FC236}">
                <a16:creationId xmlns:a16="http://schemas.microsoft.com/office/drawing/2014/main" id="{D51D4DF0-9C43-4321-9BAB-6AAAB845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3238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4B5F6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63" name="rob-h">
            <a:extLst xmlns:a="http://schemas.openxmlformats.org/drawingml/2006/main">
              <a:ext uri="{FF2B5EF4-FFF2-40B4-BE49-F238E27FC236}">
                <a16:creationId xmlns:a16="http://schemas.microsoft.com/office/drawing/2014/main" id="{E629A919-3E90-45F9-A132-4F43FE5F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3238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4B5F6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64" name="slalom-note">
            <a:extLst xmlns:a="http://schemas.openxmlformats.org/drawingml/2006/main">
              <a:ext uri="{FF2B5EF4-FFF2-40B4-BE49-F238E27FC236}">
                <a16:creationId xmlns:a16="http://schemas.microsoft.com/office/drawing/2014/main" id="{E53F9BFF-6EC3-4FA4-B1E1-302CC91F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005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走廊（虚线）</a:t>
            </a:r>
          </a:p>
        </p:txBody>
      </p:sp>
      <p:sp>
        <p:nvSpPr>
          <p:cNvPr id="65" name="tunnel-box">
            <a:extLst xmlns:a="http://schemas.openxmlformats.org/drawingml/2006/main">
              <a:ext uri="{FF2B5EF4-FFF2-40B4-BE49-F238E27FC236}">
                <a16:creationId xmlns:a16="http://schemas.microsoft.com/office/drawing/2014/main" id="{B5767801-2CC6-4278-85BB-BC52F745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62350"/>
            <a:ext cx="1771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66" name="tunnel-title">
            <a:extLst xmlns:a="http://schemas.openxmlformats.org/drawingml/2006/main">
              <a:ext uri="{FF2B5EF4-FFF2-40B4-BE49-F238E27FC236}">
                <a16:creationId xmlns:a16="http://schemas.microsoft.com/office/drawing/2014/main" id="{1EB1EFA7-8916-4921-8C11-64FE2BC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Tunnel 钻洞（YoZ）</a:t>
            </a:r>
          </a:p>
        </p:txBody>
      </p:sp>
      <p:sp>
        <p:nvSpPr>
          <p:cNvPr id="67" name="tun-top">
            <a:extLst xmlns:a="http://schemas.openxmlformats.org/drawingml/2006/main">
              <a:ext uri="{FF2B5EF4-FFF2-40B4-BE49-F238E27FC236}">
                <a16:creationId xmlns:a16="http://schemas.microsoft.com/office/drawing/2014/main" id="{5142C61C-26A0-480D-8662-CA497375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243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6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tun-bot">
            <a:extLst xmlns:a="http://schemas.openxmlformats.org/drawingml/2006/main">
              <a:ext uri="{FF2B5EF4-FFF2-40B4-BE49-F238E27FC236}">
                <a16:creationId xmlns:a16="http://schemas.microsoft.com/office/drawing/2014/main" id="{46012479-85C1-4F2F-AF70-B66A77F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053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6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rob-tun">
            <a:extLst xmlns:a="http://schemas.openxmlformats.org/drawingml/2006/main">
              <a:ext uri="{FF2B5EF4-FFF2-40B4-BE49-F238E27FC236}">
                <a16:creationId xmlns:a16="http://schemas.microsoft.com/office/drawing/2014/main" id="{074BDEC1-D034-412D-BDFE-6C3729AE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33850"/>
            <a:ext cx="323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5F6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70" name="tunnel-note">
            <a:extLst xmlns:a="http://schemas.openxmlformats.org/drawingml/2006/main">
              <a:ext uri="{FF2B5EF4-FFF2-40B4-BE49-F238E27FC236}">
                <a16:creationId xmlns:a16="http://schemas.microsoft.com/office/drawing/2014/main" id="{A99E0368-5C3A-4B8A-B1DA-0497FF73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00550"/>
            <a:ext cx="1771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净高 → 收缩</a:t>
            </a:r>
          </a:p>
        </p:txBody>
      </p:sp>
      <p:sp>
        <p:nvSpPr>
          <p:cNvPr id="71" name="m22">
            <a:extLst xmlns:a="http://schemas.openxmlformats.org/drawingml/2006/main">
              <a:ext uri="{FF2B5EF4-FFF2-40B4-BE49-F238E27FC236}">
                <a16:creationId xmlns:a16="http://schemas.microsoft.com/office/drawing/2014/main" id="{F16442CC-CA6F-4FFB-A9CA-66C52F2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57550"/>
            <a:ext cx="2762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72" name="m22-t">
            <a:extLst xmlns:a="http://schemas.openxmlformats.org/drawingml/2006/main">
              <a:ext uri="{FF2B5EF4-FFF2-40B4-BE49-F238E27FC236}">
                <a16:creationId xmlns:a16="http://schemas.microsoft.com/office/drawing/2014/main" id="{CD0AD7CE-8C8C-4165-B751-A26F1366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147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② 走廊一致性奖励（Corridor）</a:t>
            </a:r>
          </a:p>
        </p:txBody>
      </p:sp>
      <p:sp>
        <p:nvSpPr>
          <p:cNvPr id="73" name="m22-eq">
            <a:extLst xmlns:a="http://schemas.openxmlformats.org/drawingml/2006/main">
              <a:ext uri="{FF2B5EF4-FFF2-40B4-BE49-F238E27FC236}">
                <a16:creationId xmlns:a16="http://schemas.microsoft.com/office/drawing/2014/main" id="{D0152101-A5D9-4491-BCC1-601B8025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2609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e = |d_lat| + |L·sinΔθ| + |W·cosΔθ|</a:t>
            </a:r>
          </a:p>
        </p:txBody>
      </p:sp>
      <p:sp>
        <p:nvSpPr>
          <p:cNvPr id="74" name="m22-form">
            <a:extLst xmlns:a="http://schemas.openxmlformats.org/drawingml/2006/main">
              <a:ext uri="{FF2B5EF4-FFF2-40B4-BE49-F238E27FC236}">
                <a16:creationId xmlns:a16="http://schemas.microsoft.com/office/drawing/2014/main" id="{9D3AE328-4CD0-4E6A-AF8B-3670AA44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v = max(0, e − C)</a:t>
            </a:r>
          </a:p>
          <a:p xmlns:a="http://schemas.openxmlformats.org/drawingml/2006/main">
            <a:pPr algn="ctr">
              <a:defRPr sz="86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r = exp(−σ·v²)   C = 死区</a:t>
            </a:r>
          </a:p>
        </p:txBody>
      </p:sp>
      <p:sp>
        <p:nvSpPr>
          <p:cNvPr id="75" name="m22-note">
            <a:extLst xmlns:a="http://schemas.openxmlformats.org/drawingml/2006/main">
              <a:ext uri="{FF2B5EF4-FFF2-40B4-BE49-F238E27FC236}">
                <a16:creationId xmlns:a16="http://schemas.microsoft.com/office/drawing/2014/main" id="{9EF3EB39-7BDB-4CB2-ADDE-81686F69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4340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同时约束位置与朝向，死区内不惩罚；统一覆盖 XoY 与 YoZ 两个场景</a:t>
            </a:r>
          </a:p>
        </p:txBody>
      </p:sp>
      <p:sp>
        <p:nvSpPr>
          <p:cNvPr id="76" name="m23">
            <a:extLst xmlns:a="http://schemas.openxmlformats.org/drawingml/2006/main">
              <a:ext uri="{FF2B5EF4-FFF2-40B4-BE49-F238E27FC236}">
                <a16:creationId xmlns:a16="http://schemas.microsoft.com/office/drawing/2014/main" id="{81B9D962-E823-4251-BCF4-DCDC1FD3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57550"/>
            <a:ext cx="2247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77" name="m23-t">
            <a:extLst xmlns:a="http://schemas.openxmlformats.org/drawingml/2006/main">
              <a:ext uri="{FF2B5EF4-FFF2-40B4-BE49-F238E27FC236}">
                <a16:creationId xmlns:a16="http://schemas.microsoft.com/office/drawing/2014/main" id="{FC28692C-64A5-4903-A6F0-438651EE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1470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③ 两阶段约束收缩课程</a:t>
            </a:r>
          </a:p>
        </p:txBody>
      </p:sp>
      <p:sp>
        <p:nvSpPr>
          <p:cNvPr id="78" name="ph0">
            <a:extLst xmlns:a="http://schemas.openxmlformats.org/drawingml/2006/main">
              <a:ext uri="{FF2B5EF4-FFF2-40B4-BE49-F238E27FC236}">
                <a16:creationId xmlns:a16="http://schemas.microsoft.com/office/drawing/2014/main" id="{0B46CCAA-6A00-4A9F-A2AC-1BC9E154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81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EFB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79" name="ph0-t">
            <a:extLst xmlns:a="http://schemas.openxmlformats.org/drawingml/2006/main">
              <a:ext uri="{FF2B5EF4-FFF2-40B4-BE49-F238E27FC236}">
                <a16:creationId xmlns:a16="http://schemas.microsoft.com/office/drawing/2014/main" id="{2476CBC7-9E47-416F-A370-62BC4B98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Phase 0 基元：κ 0.5→20</a:t>
            </a:r>
          </a:p>
        </p:txBody>
      </p:sp>
      <p:sp>
        <p:nvSpPr>
          <p:cNvPr id="80" name="ph1">
            <a:extLst xmlns:a="http://schemas.openxmlformats.org/drawingml/2006/main">
              <a:ext uri="{FF2B5EF4-FFF2-40B4-BE49-F238E27FC236}">
                <a16:creationId xmlns:a16="http://schemas.microsoft.com/office/drawing/2014/main" id="{A176FD16-F03A-4920-8D75-1274B88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CAF9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81" name="ph1-t">
            <a:extLst xmlns:a="http://schemas.openxmlformats.org/drawingml/2006/main">
              <a:ext uri="{FF2B5EF4-FFF2-40B4-BE49-F238E27FC236}">
                <a16:creationId xmlns:a16="http://schemas.microsoft.com/office/drawing/2014/main" id="{587C2F8A-0F82-4466-A94A-FC6E7829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Phase 1 场景：间距/净高收缩</a:t>
            </a:r>
          </a:p>
        </p:txBody>
      </p:sp>
      <p:sp>
        <p:nvSpPr>
          <p:cNvPr id="82" name="m23-axis">
            <a:extLst xmlns:a="http://schemas.openxmlformats.org/drawingml/2006/main">
              <a:ext uri="{FF2B5EF4-FFF2-40B4-BE49-F238E27FC236}">
                <a16:creationId xmlns:a16="http://schemas.microsoft.com/office/drawing/2014/main" id="{E7940A23-EC27-4875-8730-78411682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910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iter  0 → 2000 → 4000 → 6000 → 8000</a:t>
            </a:r>
          </a:p>
          <a:p xmlns:a="http://schemas.openxmlformats.org/drawingml/2006/main">
            <a:pPr algn="ctr">
              <a:defRPr sz="713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杆间距 0.20→0.10 m ｜ 净高逐级收缩</a:t>
            </a:r>
          </a:p>
        </p:txBody>
      </p:sp>
      <p:sp>
        <p:nvSpPr>
          <p:cNvPr id="83" name="m24">
            <a:extLst xmlns:a="http://schemas.openxmlformats.org/drawingml/2006/main">
              <a:ext uri="{FF2B5EF4-FFF2-40B4-BE49-F238E27FC236}">
                <a16:creationId xmlns:a16="http://schemas.microsoft.com/office/drawing/2014/main" id="{F390BB6D-BD93-416E-8404-21B47180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57550"/>
            <a:ext cx="2400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84" name="m24-t">
            <a:extLst xmlns:a="http://schemas.openxmlformats.org/drawingml/2006/main">
              <a:ext uri="{FF2B5EF4-FFF2-40B4-BE49-F238E27FC236}">
                <a16:creationId xmlns:a16="http://schemas.microsoft.com/office/drawing/2014/main" id="{20987A2B-B0FC-4E41-9B6C-359A1B1F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240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D47A1"/>
                </a:solidFill>
                <a:latin typeface="Microsoft YaHei"/>
                <a:ea typeface="Microsoft YaHei"/>
                <a:cs typeface="Microsoft YaHei"/>
              </a:rPr>
              <a:t>④ Actor-Critic 训练</a:t>
            </a:r>
          </a:p>
        </p:txBody>
      </p:sp>
      <p:sp>
        <p:nvSpPr>
          <p:cNvPr id="85" name="obs">
            <a:extLst xmlns:a="http://schemas.openxmlformats.org/drawingml/2006/main">
              <a:ext uri="{FF2B5EF4-FFF2-40B4-BE49-F238E27FC236}">
                <a16:creationId xmlns:a16="http://schemas.microsoft.com/office/drawing/2014/main" id="{1A43CDB6-505F-4D7F-AA03-EC023791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8140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86" name="obs-t">
            <a:extLst xmlns:a="http://schemas.openxmlformats.org/drawingml/2006/main">
              <a:ext uri="{FF2B5EF4-FFF2-40B4-BE49-F238E27FC236}">
                <a16:creationId xmlns:a16="http://schemas.microsoft.com/office/drawing/2014/main" id="{D55FE29F-90EB-4CB9-9A48-F9E4C05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195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观测（状态 + 路径 + 命令）</a:t>
            </a:r>
          </a:p>
        </p:txBody>
      </p:sp>
      <p:sp>
        <p:nvSpPr>
          <p:cNvPr id="87" name="mlp">
            <a:extLst xmlns:a="http://schemas.openxmlformats.org/drawingml/2006/main">
              <a:ext uri="{FF2B5EF4-FFF2-40B4-BE49-F238E27FC236}">
                <a16:creationId xmlns:a16="http://schemas.microsoft.com/office/drawing/2014/main" id="{E7E75AEB-F805-4832-925B-5E3988D1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05250"/>
            <a:ext cx="2247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EFB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88" name="mlp-t">
            <a:extLst xmlns:a="http://schemas.openxmlformats.org/drawingml/2006/main">
              <a:ext uri="{FF2B5EF4-FFF2-40B4-BE49-F238E27FC236}">
                <a16:creationId xmlns:a16="http://schemas.microsoft.com/office/drawing/2014/main" id="{695A2CF6-C6B6-4AFD-80A2-D725976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MLP 512-256-128（actor/critic）</a:t>
            </a:r>
          </a:p>
        </p:txBody>
      </p:sp>
      <p:sp>
        <p:nvSpPr>
          <p:cNvPr id="89" name="act">
            <a:extLst xmlns:a="http://schemas.openxmlformats.org/drawingml/2006/main">
              <a:ext uri="{FF2B5EF4-FFF2-40B4-BE49-F238E27FC236}">
                <a16:creationId xmlns:a16="http://schemas.microsoft.com/office/drawing/2014/main" id="{928D5918-D4F8-432D-BA06-05A22682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291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90" name="act-t">
            <a:extLst xmlns:a="http://schemas.openxmlformats.org/drawingml/2006/main">
              <a:ext uri="{FF2B5EF4-FFF2-40B4-BE49-F238E27FC236}">
                <a16:creationId xmlns:a16="http://schemas.microsoft.com/office/drawing/2014/main" id="{F3E282EA-F344-4C7B-831C-52415003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672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动作：14 关节位置 + mimic 奖励注入</a:t>
            </a:r>
          </a:p>
        </p:txBody>
      </p:sp>
      <p:sp>
        <p:nvSpPr>
          <p:cNvPr id="91" name="m24-note">
            <a:extLst xmlns:a="http://schemas.openxmlformats.org/drawingml/2006/main">
              <a:ext uri="{FF2B5EF4-FFF2-40B4-BE49-F238E27FC236}">
                <a16:creationId xmlns:a16="http://schemas.microsoft.com/office/drawing/2014/main" id="{B66DC42E-900D-4A36-A1BF-661747D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PPO · 1024 envs · dt=0.02s</a:t>
            </a:r>
          </a:p>
        </p:txBody>
      </p:sp>
      <p:sp>
        <p:nvSpPr>
          <p:cNvPr id="92" name="arr2-1">
            <a:extLst xmlns:a="http://schemas.openxmlformats.org/drawingml/2006/main">
              <a:ext uri="{FF2B5EF4-FFF2-40B4-BE49-F238E27FC236}">
                <a16:creationId xmlns:a16="http://schemas.microsoft.com/office/drawing/2014/main" id="{DDC15CE8-1202-4BD0-9DB6-C24E021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433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arr2-2">
            <a:extLst xmlns:a="http://schemas.openxmlformats.org/drawingml/2006/main">
              <a:ext uri="{FF2B5EF4-FFF2-40B4-BE49-F238E27FC236}">
                <a16:creationId xmlns:a16="http://schemas.microsoft.com/office/drawing/2014/main" id="{F501A7F8-BA6D-4878-AFBC-FC0261B4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arr2-3">
            <a:extLst xmlns:a="http://schemas.openxmlformats.org/drawingml/2006/main">
              <a:ext uri="{FF2B5EF4-FFF2-40B4-BE49-F238E27FC236}">
                <a16:creationId xmlns:a16="http://schemas.microsoft.com/office/drawing/2014/main" id="{1B400DB4-2D0C-474B-8002-F4367EA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433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row3-bg">
            <a:extLst xmlns:a="http://schemas.openxmlformats.org/drawingml/2006/main">
              <a:ext uri="{FF2B5EF4-FFF2-40B4-BE49-F238E27FC236}">
                <a16:creationId xmlns:a16="http://schemas.microsoft.com/office/drawing/2014/main" id="{FBC72BF3-F9E5-4A7C-B0BB-CD25A22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029200"/>
            <a:ext cx="118872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14288">
            <a:solidFill>
              <a:srgbClr val="E65100"/>
            </a:solidFill>
            <a:prstDash val="solid"/>
          </a:ln>
        </p:spPr>
      </p:sp>
      <p:sp>
        <p:nvSpPr>
          <p:cNvPr id="96" name="row3-title">
            <a:extLst xmlns:a="http://schemas.openxmlformats.org/drawingml/2006/main">
              <a:ext uri="{FF2B5EF4-FFF2-40B4-BE49-F238E27FC236}">
                <a16:creationId xmlns:a16="http://schemas.microsoft.com/office/drawing/2014/main" id="{0A2D240A-B051-4F11-A92F-B85CA5E0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5029200"/>
            <a:ext cx="1188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排 · Sim2Real：运动模式提取 → F104 单片机（算力受限）→ 实物开环回放</a:t>
            </a:r>
          </a:p>
        </p:txBody>
      </p:sp>
      <p:sp>
        <p:nvSpPr>
          <p:cNvPr id="97" name="m31">
            <a:extLst xmlns:a="http://schemas.openxmlformats.org/drawingml/2006/main">
              <a:ext uri="{FF2B5EF4-FFF2-40B4-BE49-F238E27FC236}">
                <a16:creationId xmlns:a16="http://schemas.microsoft.com/office/drawing/2014/main" id="{A939277F-146A-4F11-A6E4-3BFDA322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53050"/>
            <a:ext cx="3048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98" name="m31-t">
            <a:extLst xmlns:a="http://schemas.openxmlformats.org/drawingml/2006/main">
              <a:ext uri="{FF2B5EF4-FFF2-40B4-BE49-F238E27FC236}">
                <a16:creationId xmlns:a16="http://schemas.microsoft.com/office/drawing/2014/main" id="{4E328684-0944-4B04-9275-C6EA9703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102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① 运动模式提取</a:t>
            </a:r>
          </a:p>
        </p:txBody>
      </p:sp>
      <p:sp>
        <p:nvSpPr>
          <p:cNvPr id="99" name="pol">
            <a:extLst xmlns:a="http://schemas.openxmlformats.org/drawingml/2006/main">
              <a:ext uri="{FF2B5EF4-FFF2-40B4-BE49-F238E27FC236}">
                <a16:creationId xmlns:a16="http://schemas.microsoft.com/office/drawing/2014/main" id="{742B11F3-5505-4B26-9A50-B6E02AE2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6769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100" name="pol-t">
            <a:extLst xmlns:a="http://schemas.openxmlformats.org/drawingml/2006/main">
              <a:ext uri="{FF2B5EF4-FFF2-40B4-BE49-F238E27FC236}">
                <a16:creationId xmlns:a16="http://schemas.microsoft.com/office/drawing/2014/main" id="{94EE7A29-81D3-4DDD-B0FA-01599D77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715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闭环策略</a:t>
            </a:r>
          </a:p>
          <a:p xmlns:a="http://schemas.openxmlformats.org/drawingml/2006/main">
            <a:pPr algn="ctr">
              <a:def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/ 仿真轨迹</a:t>
            </a:r>
          </a:p>
        </p:txBody>
      </p:sp>
      <p:sp>
        <p:nvSpPr>
          <p:cNvPr id="101" name="ext">
            <a:extLst xmlns:a="http://schemas.openxmlformats.org/drawingml/2006/main">
              <a:ext uri="{FF2B5EF4-FFF2-40B4-BE49-F238E27FC236}">
                <a16:creationId xmlns:a16="http://schemas.microsoft.com/office/drawing/2014/main" id="{33100DA0-5B92-4149-BACA-F9C0696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769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B2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102" name="ext-t">
            <a:extLst xmlns:a="http://schemas.openxmlformats.org/drawingml/2006/main">
              <a:ext uri="{FF2B5EF4-FFF2-40B4-BE49-F238E27FC236}">
                <a16:creationId xmlns:a16="http://schemas.microsoft.com/office/drawing/2014/main" id="{2AFA1C8F-81A7-461A-87A6-274941FC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150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提取</a:t>
            </a:r>
          </a:p>
          <a:p xmlns:a="http://schemas.openxmlformats.org/drawingml/2006/main">
            <a:pPr algn="ctr">
              <a:def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降采样/模式</a:t>
            </a:r>
          </a:p>
        </p:txBody>
      </p:sp>
      <p:sp>
        <p:nvSpPr>
          <p:cNvPr id="103" name="tbl">
            <a:extLst xmlns:a="http://schemas.openxmlformats.org/drawingml/2006/main">
              <a:ext uri="{FF2B5EF4-FFF2-40B4-BE49-F238E27FC236}">
                <a16:creationId xmlns:a16="http://schemas.microsoft.com/office/drawing/2014/main" id="{5A660676-419C-43F8-A5FF-D6B0CE7E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76900"/>
            <a:ext cx="838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80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104" name="tbl-t">
            <a:extLst xmlns:a="http://schemas.openxmlformats.org/drawingml/2006/main">
              <a:ext uri="{FF2B5EF4-FFF2-40B4-BE49-F238E27FC236}">
                <a16:creationId xmlns:a16="http://schemas.microsoft.com/office/drawing/2014/main" id="{2E9229AF-8F11-4E43-BDC0-FDF947B8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150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关节</a:t>
            </a:r>
          </a:p>
          <a:p xmlns:a="http://schemas.openxmlformats.org/drawingml/2006/main">
            <a:pPr algn="ctr">
              <a:def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轨迹表</a:t>
            </a:r>
          </a:p>
        </p:txBody>
      </p:sp>
      <p:sp>
        <p:nvSpPr>
          <p:cNvPr id="105" name="arr3-1a">
            <a:extLst xmlns:a="http://schemas.openxmlformats.org/drawingml/2006/main">
              <a:ext uri="{FF2B5EF4-FFF2-40B4-BE49-F238E27FC236}">
                <a16:creationId xmlns:a16="http://schemas.microsoft.com/office/drawing/2014/main" id="{9A596317-A89A-42BD-B7D4-7FB652C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912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5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arr3-1b">
            <a:extLst xmlns:a="http://schemas.openxmlformats.org/drawingml/2006/main">
              <a:ext uri="{FF2B5EF4-FFF2-40B4-BE49-F238E27FC236}">
                <a16:creationId xmlns:a16="http://schemas.microsoft.com/office/drawing/2014/main" id="{9319BC85-EDC3-4DC7-A9DF-B66EA272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91200"/>
            <a:ext cx="1714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51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m31-note">
            <a:extLst xmlns:a="http://schemas.openxmlformats.org/drawingml/2006/main">
              <a:ext uri="{FF2B5EF4-FFF2-40B4-BE49-F238E27FC236}">
                <a16:creationId xmlns:a16="http://schemas.microsoft.com/office/drawing/2014/main" id="{A02FC771-C187-41CC-A823-2EA13F93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96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无需部署神经网络</a:t>
            </a:r>
          </a:p>
        </p:txBody>
      </p:sp>
      <p:sp>
        <p:nvSpPr>
          <p:cNvPr id="108" name="m32">
            <a:extLst xmlns:a="http://schemas.openxmlformats.org/drawingml/2006/main">
              <a:ext uri="{FF2B5EF4-FFF2-40B4-BE49-F238E27FC236}">
                <a16:creationId xmlns:a16="http://schemas.microsoft.com/office/drawing/2014/main" id="{896466F0-332D-4074-AC0A-87BABB9C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53050"/>
            <a:ext cx="3429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109" name="m32-t">
            <a:extLst xmlns:a="http://schemas.openxmlformats.org/drawingml/2006/main">
              <a:ext uri="{FF2B5EF4-FFF2-40B4-BE49-F238E27FC236}">
                <a16:creationId xmlns:a16="http://schemas.microsoft.com/office/drawing/2014/main" id="{D7E95B7F-7B35-4BD3-AE16-3A6EACD7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10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② 提取的关节轨迹（示意）</a:t>
            </a:r>
          </a:p>
        </p:txBody>
      </p:sp>
      <p:sp>
        <p:nvSpPr>
          <p:cNvPr id="110" name="tr-0">
            <a:extLst xmlns:a="http://schemas.openxmlformats.org/drawingml/2006/main">
              <a:ext uri="{FF2B5EF4-FFF2-40B4-BE49-F238E27FC236}">
                <a16:creationId xmlns:a16="http://schemas.microsoft.com/office/drawing/2014/main" id="{3C0604AB-7FE3-4B33-BC94-5582F94B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91200"/>
            <a:ext cx="1714500" cy="104775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11" name="tr-t-0">
            <a:extLst xmlns:a="http://schemas.openxmlformats.org/drawingml/2006/main">
              <a:ext uri="{FF2B5EF4-FFF2-40B4-BE49-F238E27FC236}">
                <a16:creationId xmlns:a16="http://schemas.microsoft.com/office/drawing/2014/main" id="{7FB2D7C0-A9E3-4B28-8339-9E673C37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7721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脊柱</a:t>
            </a:r>
          </a:p>
        </p:txBody>
      </p:sp>
      <p:sp>
        <p:nvSpPr>
          <p:cNvPr id="112" name="tr-1">
            <a:extLst xmlns:a="http://schemas.openxmlformats.org/drawingml/2006/main">
              <a:ext uri="{FF2B5EF4-FFF2-40B4-BE49-F238E27FC236}">
                <a16:creationId xmlns:a16="http://schemas.microsoft.com/office/drawing/2014/main" id="{E0301FAC-4E51-4065-AB87-C7987B0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38850"/>
            <a:ext cx="1714500" cy="104775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1565C0"/>
          </a:solidFill>
          <a:ln xmlns:a="http://schemas.openxmlformats.org/drawingml/2006/main" w="9525">
            <a:solidFill>
              <a:srgbClr val="1565C0"/>
            </a:solidFill>
            <a:prstDash val="solid"/>
          </a:ln>
        </p:spPr>
      </p:sp>
      <p:sp>
        <p:nvSpPr>
          <p:cNvPr id="113" name="tr-t-1">
            <a:extLst xmlns:a="http://schemas.openxmlformats.org/drawingml/2006/main">
              <a:ext uri="{FF2B5EF4-FFF2-40B4-BE49-F238E27FC236}">
                <a16:creationId xmlns:a16="http://schemas.microsoft.com/office/drawing/2014/main" id="{914006F9-D1C2-4B06-94C5-ED8CFDE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198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前腿</a:t>
            </a:r>
          </a:p>
        </p:txBody>
      </p:sp>
      <p:sp>
        <p:nvSpPr>
          <p:cNvPr id="114" name="tr-2">
            <a:extLst xmlns:a="http://schemas.openxmlformats.org/drawingml/2006/main">
              <a:ext uri="{FF2B5EF4-FFF2-40B4-BE49-F238E27FC236}">
                <a16:creationId xmlns:a16="http://schemas.microsoft.com/office/drawing/2014/main" id="{2F33BD31-7E32-487B-8577-152B956A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286500"/>
            <a:ext cx="1714500" cy="104775"/>
          </a:xfrm>
          <a:prstGeom xmlns:a="http://schemas.openxmlformats.org/drawingml/2006/main" prst="wave">
            <a:avLst/>
          </a:prstGeom>
          <a:solidFill xmlns:a="http://schemas.openxmlformats.org/drawingml/2006/main">
            <a:srgbClr val="E65100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115" name="tr-t-2">
            <a:extLst xmlns:a="http://schemas.openxmlformats.org/drawingml/2006/main">
              <a:ext uri="{FF2B5EF4-FFF2-40B4-BE49-F238E27FC236}">
                <a16:creationId xmlns:a16="http://schemas.microsoft.com/office/drawing/2014/main" id="{1AEEEAF1-98BD-41E4-A6BB-B7CB4747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67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后腿</a:t>
            </a:r>
          </a:p>
        </p:txBody>
      </p:sp>
      <p:sp>
        <p:nvSpPr>
          <p:cNvPr id="116" name="m32-axis">
            <a:extLst xmlns:a="http://schemas.openxmlformats.org/drawingml/2006/main">
              <a:ext uri="{FF2B5EF4-FFF2-40B4-BE49-F238E27FC236}">
                <a16:creationId xmlns:a16="http://schemas.microsoft.com/office/drawing/2014/main" id="{9B4EE160-7ED8-4602-8069-5CC28684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43890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时间（一个步态周期）→</a:t>
            </a:r>
          </a:p>
        </p:txBody>
      </p:sp>
      <p:sp>
        <p:nvSpPr>
          <p:cNvPr id="117" name="m33">
            <a:extLst xmlns:a="http://schemas.openxmlformats.org/drawingml/2006/main">
              <a:ext uri="{FF2B5EF4-FFF2-40B4-BE49-F238E27FC236}">
                <a16:creationId xmlns:a16="http://schemas.microsoft.com/office/drawing/2014/main" id="{08E1202C-EF92-46BD-AFC5-FE58762B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353050"/>
            <a:ext cx="4876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5100"/>
            </a:solidFill>
            <a:prstDash val="solid"/>
          </a:ln>
        </p:spPr>
      </p:sp>
      <p:sp>
        <p:nvSpPr>
          <p:cNvPr id="118" name="m33-t">
            <a:extLst xmlns:a="http://schemas.openxmlformats.org/drawingml/2006/main">
              <a:ext uri="{FF2B5EF4-FFF2-40B4-BE49-F238E27FC236}">
                <a16:creationId xmlns:a16="http://schemas.microsoft.com/office/drawing/2014/main" id="{6F9BCC8A-4BF6-4F89-9433-9D4C3A70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③ 实物 · F104 MCU 开环回放</a:t>
            </a:r>
          </a:p>
        </p:txBody>
      </p:sp>
      <p:sp>
        <p:nvSpPr>
          <p:cNvPr id="119" name="photo-0">
            <a:extLst xmlns:a="http://schemas.openxmlformats.org/drawingml/2006/main">
              <a:ext uri="{FF2B5EF4-FFF2-40B4-BE49-F238E27FC236}">
                <a16:creationId xmlns:a16="http://schemas.microsoft.com/office/drawing/2014/main" id="{E0445C49-7D60-4E3A-A86B-45B4B867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14288">
            <a:solidFill>
              <a:srgbClr val="E65100"/>
            </a:solidFill>
            <a:prstDash val="dash"/>
          </a:ln>
        </p:spPr>
      </p:sp>
      <p:sp>
        <p:nvSpPr>
          <p:cNvPr id="120" name="photo-t-0">
            <a:extLst xmlns:a="http://schemas.openxmlformats.org/drawingml/2006/main">
              <a:ext uri="{FF2B5EF4-FFF2-40B4-BE49-F238E27FC236}">
                <a16:creationId xmlns:a16="http://schemas.microsoft.com/office/drawing/2014/main" id="{E6F0FC91-3FCA-4D74-9261-96FA4343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912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实物：连续绕杆</a:t>
            </a:r>
          </a:p>
          <a:p xmlns:a="http://schemas.openxmlformats.org/drawingml/2006/main">
            <a:pPr algn="ctr">
              <a:def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（照片占位）</a:t>
            </a:r>
          </a:p>
        </p:txBody>
      </p:sp>
      <p:sp>
        <p:nvSpPr>
          <p:cNvPr id="121" name="photo-1">
            <a:extLst xmlns:a="http://schemas.openxmlformats.org/drawingml/2006/main">
              <a:ext uri="{FF2B5EF4-FFF2-40B4-BE49-F238E27FC236}">
                <a16:creationId xmlns:a16="http://schemas.microsoft.com/office/drawing/2014/main" id="{EEC47D0A-4B59-4267-BAE2-F5AEBA03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76900"/>
            <a:ext cx="228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14288">
            <a:solidFill>
              <a:srgbClr val="E65100"/>
            </a:solidFill>
            <a:prstDash val="dash"/>
          </a:ln>
        </p:spPr>
      </p:sp>
      <p:sp>
        <p:nvSpPr>
          <p:cNvPr id="122" name="photo-t-1">
            <a:extLst xmlns:a="http://schemas.openxmlformats.org/drawingml/2006/main">
              <a:ext uri="{FF2B5EF4-FFF2-40B4-BE49-F238E27FC236}">
                <a16:creationId xmlns:a16="http://schemas.microsoft.com/office/drawing/2014/main" id="{F7037A5F-89F3-4DE1-9019-BF376FB9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912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实物：钻洞隧道</a:t>
            </a:r>
          </a:p>
          <a:p xmlns:a="http://schemas.openxmlformats.org/drawingml/2006/main">
            <a:pPr algn="ctr">
              <a:def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BF360C"/>
                </a:solidFill>
                <a:latin typeface="Microsoft YaHei"/>
                <a:ea typeface="Microsoft YaHei"/>
                <a:cs typeface="Microsoft YaHei"/>
              </a:rPr>
              <a:t>（照片占位）</a:t>
            </a:r>
          </a:p>
        </p:txBody>
      </p:sp>
      <p:sp>
        <p:nvSpPr>
          <p:cNvPr id="123" name="m33-note">
            <a:extLst xmlns:a="http://schemas.openxmlformats.org/drawingml/2006/main">
              <a:ext uri="{FF2B5EF4-FFF2-40B4-BE49-F238E27FC236}">
                <a16:creationId xmlns:a16="http://schemas.microsoft.com/office/drawing/2014/main" id="{0F25727E-5262-4DFF-AC24-7A5EF36E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4198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开环执行；鲁棒性由提取的轨迹保证</a:t>
            </a:r>
          </a:p>
        </p:txBody>
      </p:sp>
      <p:sp>
        <p:nvSpPr>
          <p:cNvPr id="124" name="row1to2">
            <a:extLst xmlns:a="http://schemas.openxmlformats.org/drawingml/2006/main">
              <a:ext uri="{FF2B5EF4-FFF2-40B4-BE49-F238E27FC236}">
                <a16:creationId xmlns:a16="http://schemas.microsoft.com/office/drawing/2014/main" id="{8CB6BA65-7EFE-4BAF-BED6-78F5FECA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62250"/>
            <a:ext cx="2476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B1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row1to2-lbl">
            <a:extLst xmlns:a="http://schemas.openxmlformats.org/drawingml/2006/main">
              <a:ext uri="{FF2B5EF4-FFF2-40B4-BE49-F238E27FC236}">
                <a16:creationId xmlns:a16="http://schemas.microsoft.com/office/drawing/2014/main" id="{D5D4A4EB-9F79-4414-B345-F51241B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参考轨迹注入 mimic 奖励</a:t>
            </a:r>
          </a:p>
        </p:txBody>
      </p:sp>
      <p:sp>
        <p:nvSpPr>
          <p:cNvPr id="126" name="row2to3">
            <a:extLst xmlns:a="http://schemas.openxmlformats.org/drawingml/2006/main">
              <a:ext uri="{FF2B5EF4-FFF2-40B4-BE49-F238E27FC236}">
                <a16:creationId xmlns:a16="http://schemas.microsoft.com/office/drawing/2014/main" id="{544C382A-5BD7-4810-8A2A-8025AA4A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876800"/>
            <a:ext cx="24765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B1F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row2to3-lbl">
            <a:extLst xmlns:a="http://schemas.openxmlformats.org/drawingml/2006/main">
              <a:ext uri="{FF2B5EF4-FFF2-40B4-BE49-F238E27FC236}">
                <a16:creationId xmlns:a16="http://schemas.microsoft.com/office/drawing/2014/main" id="{3676C63D-2CB1-4AA7-A240-4AFAE279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8768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学到的运动模式</a:t>
            </a:r>
          </a:p>
        </p:txBody>
      </p:sp>
    </p:spTree>
    <p:extLst>
      <p:ext uri="{BB962C8B-B14F-4D97-AF65-F5344CB8AC3E}">
        <p14:creationId xmlns:p14="http://schemas.microsoft.com/office/powerpoint/2010/main" val="674956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2026-08-04T10:17:32.4670000Z</dcterms:created>
  <dcterms:modified xsi:type="dcterms:W3CDTF">2026-08-04T10:17:32.4670000Z</dcterms:modified>
</coreProperties>
</file>